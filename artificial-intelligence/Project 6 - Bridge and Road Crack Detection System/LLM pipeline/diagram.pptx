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9144000" cy="109728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4" autoAdjust="0"/>
    <p:restoredTop sz="94638" autoAdjust="0"/>
  </p:normalViewPr>
  <p:slideViewPr>
    <p:cSldViewPr snapToGrid="0">
      <p:cViewPr>
        <p:scale>
          <a:sx n="75" d="100"/>
          <a:sy n="75" d="100"/>
        </p:scale>
        <p:origin x="1230" y="-10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95781"/>
            <a:ext cx="7772400" cy="38201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763261"/>
            <a:ext cx="6858000" cy="264921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D53DF-F8B8-45B0-A853-202340944C2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BDC0-6729-4AF8-AB2C-665F88DB5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04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D53DF-F8B8-45B0-A853-202340944C2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BDC0-6729-4AF8-AB2C-665F88DB5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186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735583"/>
            <a:ext cx="7886700" cy="456437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7343143"/>
            <a:ext cx="7886700" cy="24002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D53DF-F8B8-45B0-A853-202340944C2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BDC0-6729-4AF8-AB2C-665F88DB5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207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921000"/>
            <a:ext cx="388620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921000"/>
            <a:ext cx="388620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D53DF-F8B8-45B0-A853-202340944C2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BDC0-6729-4AF8-AB2C-665F88DB5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039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84202"/>
            <a:ext cx="7886700" cy="21209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2689861"/>
            <a:ext cx="3868340" cy="131825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4008120"/>
            <a:ext cx="3868340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2689861"/>
            <a:ext cx="3887391" cy="131825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4008120"/>
            <a:ext cx="3887391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D53DF-F8B8-45B0-A853-202340944C2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BDC0-6729-4AF8-AB2C-665F88DB5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02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D53DF-F8B8-45B0-A853-202340944C2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BDC0-6729-4AF8-AB2C-665F88DB5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0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D53DF-F8B8-45B0-A853-202340944C2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BDC0-6729-4AF8-AB2C-665F88DB5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939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731520"/>
            <a:ext cx="2949178" cy="256032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579882"/>
            <a:ext cx="4629150" cy="7797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3291840"/>
            <a:ext cx="2949178" cy="609854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D53DF-F8B8-45B0-A853-202340944C2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BDC0-6729-4AF8-AB2C-665F88DB5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058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731520"/>
            <a:ext cx="2949178" cy="256032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579882"/>
            <a:ext cx="4629150" cy="779780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3291840"/>
            <a:ext cx="2949178" cy="609854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D53DF-F8B8-45B0-A853-202340944C2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BDC0-6729-4AF8-AB2C-665F88DB5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036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D53DF-F8B8-45B0-A853-202340944C2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BDC0-6729-4AF8-AB2C-665F88DB5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08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584200"/>
            <a:ext cx="1971675" cy="92989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584200"/>
            <a:ext cx="5800725" cy="92989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D53DF-F8B8-45B0-A853-202340944C2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BDC0-6729-4AF8-AB2C-665F88DB5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26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584202"/>
            <a:ext cx="7886700" cy="2120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921000"/>
            <a:ext cx="7886700" cy="6962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10170162"/>
            <a:ext cx="20574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CD53DF-F8B8-45B0-A853-202340944C2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10170162"/>
            <a:ext cx="30861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10170162"/>
            <a:ext cx="20574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4EBDC0-6729-4AF8-AB2C-665F88DB5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5731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A14A7D8-C6D1-50D0-5760-7EEE9681AE55}"/>
              </a:ext>
            </a:extLst>
          </p:cNvPr>
          <p:cNvSpPr/>
          <p:nvPr/>
        </p:nvSpPr>
        <p:spPr>
          <a:xfrm>
            <a:off x="927097" y="120650"/>
            <a:ext cx="2012947" cy="7239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>
                  <a:solidFill>
                    <a:schemeClr val="tx1">
                      <a:lumMod val="95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Markdown doc</a:t>
            </a:r>
          </a:p>
          <a:p>
            <a:pPr algn="ctr"/>
            <a:r>
              <a:rPr lang="en-US" sz="1400" dirty="0">
                <a:ln w="0">
                  <a:solidFill>
                    <a:schemeClr val="tx1">
                      <a:lumMod val="85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source file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6ACB0E3-531F-9B91-4C2C-36175FF93694}"/>
              </a:ext>
            </a:extLst>
          </p:cNvPr>
          <p:cNvSpPr/>
          <p:nvPr/>
        </p:nvSpPr>
        <p:spPr>
          <a:xfrm>
            <a:off x="889003" y="1139032"/>
            <a:ext cx="2279647" cy="723900"/>
          </a:xfrm>
          <a:prstGeom prst="roundRect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>
                  <a:solidFill>
                    <a:schemeClr val="accent5">
                      <a:lumMod val="20000"/>
                      <a:lumOff val="80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Parse sections</a:t>
            </a:r>
          </a:p>
          <a:p>
            <a:pPr algn="ctr"/>
            <a:r>
              <a:rPr lang="en-US" sz="1400" dirty="0">
                <a:ln w="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heading breadcrumbs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4C020D4-010D-8CB9-7FC4-D06128752098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1933571" y="844550"/>
            <a:ext cx="95256" cy="29448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CF844C7-2A36-BE2F-AE75-AB3F56D0804A}"/>
              </a:ext>
            </a:extLst>
          </p:cNvPr>
          <p:cNvSpPr/>
          <p:nvPr/>
        </p:nvSpPr>
        <p:spPr>
          <a:xfrm>
            <a:off x="889003" y="2206884"/>
            <a:ext cx="2279647" cy="723900"/>
          </a:xfrm>
          <a:prstGeom prst="roundRect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>
                  <a:solidFill>
                    <a:schemeClr val="accent5">
                      <a:lumMod val="20000"/>
                      <a:lumOff val="80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Split blocks</a:t>
            </a:r>
          </a:p>
          <a:p>
            <a:pPr algn="ctr"/>
            <a:r>
              <a:rPr lang="en-US" sz="1400" dirty="0">
                <a:ln w="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blank-line +  code fence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BED3AD-AAE3-BFBC-79D8-3C69EA22C3DC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2028827" y="1862932"/>
            <a:ext cx="0" cy="34395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C5D35B9-D010-C4A7-D08A-26B8AA3BFCD4}"/>
              </a:ext>
            </a:extLst>
          </p:cNvPr>
          <p:cNvCxnSpPr>
            <a:cxnSpLocks/>
          </p:cNvCxnSpPr>
          <p:nvPr/>
        </p:nvCxnSpPr>
        <p:spPr>
          <a:xfrm>
            <a:off x="577851" y="254000"/>
            <a:ext cx="0" cy="104902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7572116-978D-9C41-9558-3BB9B3DD37DB}"/>
              </a:ext>
            </a:extLst>
          </p:cNvPr>
          <p:cNvSpPr/>
          <p:nvPr/>
        </p:nvSpPr>
        <p:spPr>
          <a:xfrm>
            <a:off x="3479801" y="1415496"/>
            <a:ext cx="2425696" cy="723900"/>
          </a:xfrm>
          <a:prstGeom prst="roundRect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>
                  <a:solidFill>
                    <a:schemeClr val="accent5">
                      <a:lumMod val="20000"/>
                      <a:lumOff val="80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Detect type</a:t>
            </a:r>
          </a:p>
          <a:p>
            <a:pPr algn="ctr"/>
            <a:r>
              <a:rPr lang="en-US" sz="1400" dirty="0">
                <a:ln w="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para / list / table / code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DC90E00-4992-D156-03BA-036C111340A9}"/>
              </a:ext>
            </a:extLst>
          </p:cNvPr>
          <p:cNvSpPr/>
          <p:nvPr/>
        </p:nvSpPr>
        <p:spPr>
          <a:xfrm>
            <a:off x="3479801" y="2746377"/>
            <a:ext cx="2425698" cy="723900"/>
          </a:xfrm>
          <a:prstGeom prst="roundRect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>
                  <a:solidFill>
                    <a:schemeClr val="accent5">
                      <a:lumMod val="20000"/>
                      <a:lumOff val="80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Token split</a:t>
            </a:r>
          </a:p>
          <a:p>
            <a:pPr algn="ctr"/>
            <a:r>
              <a:rPr lang="en-US" sz="1400" dirty="0">
                <a:ln w="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4000 token, 40 overlap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89C33A2-8822-D5DF-4D2D-98E0E977BF62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3168650" y="1777446"/>
            <a:ext cx="311151" cy="41592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946B838-4758-4424-FF7F-C366F4E436ED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4692649" y="2139396"/>
            <a:ext cx="1" cy="60698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5E25867-9DA3-6A20-F568-90A073802805}"/>
              </a:ext>
            </a:extLst>
          </p:cNvPr>
          <p:cNvSpPr/>
          <p:nvPr/>
        </p:nvSpPr>
        <p:spPr>
          <a:xfrm>
            <a:off x="6143622" y="1948896"/>
            <a:ext cx="2657473" cy="1085850"/>
          </a:xfrm>
          <a:prstGeom prst="round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Chunk object</a:t>
            </a:r>
          </a:p>
          <a:p>
            <a:pPr algn="ctr"/>
            <a:r>
              <a:rPr lang="en-US" sz="1400" dirty="0" err="1">
                <a:ln w="0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chunk_id</a:t>
            </a:r>
            <a:r>
              <a:rPr lang="en-US" sz="1400" dirty="0">
                <a:ln w="0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n-US" sz="1400" dirty="0" err="1">
                <a:ln w="0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section_path</a:t>
            </a:r>
            <a:r>
              <a:rPr lang="en-US" sz="1400" dirty="0">
                <a:ln w="0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n-US" sz="1400" dirty="0" err="1">
                <a:ln w="0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chunk_type</a:t>
            </a:r>
            <a:r>
              <a:rPr lang="en-US" sz="1400" dirty="0">
                <a:ln w="0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n-US" sz="1400" dirty="0" err="1">
                <a:ln w="0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embedding_text</a:t>
            </a:r>
            <a:endParaRPr lang="en-US" sz="1400" dirty="0">
              <a:ln w="0">
                <a:solidFill>
                  <a:schemeClr val="accent6">
                    <a:lumMod val="40000"/>
                    <a:lumOff val="60000"/>
                  </a:schemeClr>
                </a:solidFill>
              </a:ln>
              <a:solidFill>
                <a:schemeClr val="tx1">
                  <a:lumMod val="8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C0353C3-7E69-7443-F316-B2A15C32EAC2}"/>
              </a:ext>
            </a:extLst>
          </p:cNvPr>
          <p:cNvCxnSpPr>
            <a:cxnSpLocks/>
            <a:stCxn id="21" idx="3"/>
            <a:endCxn id="29" idx="1"/>
          </p:cNvCxnSpPr>
          <p:nvPr/>
        </p:nvCxnSpPr>
        <p:spPr>
          <a:xfrm flipV="1">
            <a:off x="5905499" y="2491821"/>
            <a:ext cx="238123" cy="61650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0620700-0ECD-5392-3567-CB90ABF1FA15}"/>
              </a:ext>
            </a:extLst>
          </p:cNvPr>
          <p:cNvSpPr/>
          <p:nvPr/>
        </p:nvSpPr>
        <p:spPr>
          <a:xfrm>
            <a:off x="6105298" y="3818731"/>
            <a:ext cx="2657472" cy="727074"/>
          </a:xfrm>
          <a:prstGeom prst="round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Vector store</a:t>
            </a:r>
          </a:p>
          <a:p>
            <a:pPr algn="ctr"/>
            <a:r>
              <a:rPr lang="en-US" sz="1400" dirty="0">
                <a:ln w="0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persistent </a:t>
            </a:r>
            <a:r>
              <a:rPr lang="en-US" sz="1400" dirty="0" err="1">
                <a:ln w="0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chroma_db</a:t>
            </a:r>
            <a:r>
              <a:rPr lang="en-US" sz="1400" dirty="0">
                <a:ln w="0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F0534CF-56BD-FDF7-6791-71968D2912A7}"/>
              </a:ext>
            </a:extLst>
          </p:cNvPr>
          <p:cNvCxnSpPr>
            <a:cxnSpLocks/>
          </p:cNvCxnSpPr>
          <p:nvPr/>
        </p:nvCxnSpPr>
        <p:spPr>
          <a:xfrm flipH="1">
            <a:off x="774973" y="3652610"/>
            <a:ext cx="8007347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DE70CE0-FBA7-BD1E-36E5-2F4906952DAF}"/>
              </a:ext>
            </a:extLst>
          </p:cNvPr>
          <p:cNvSpPr/>
          <p:nvPr/>
        </p:nvSpPr>
        <p:spPr>
          <a:xfrm>
            <a:off x="3419248" y="3821905"/>
            <a:ext cx="2476498" cy="723900"/>
          </a:xfrm>
          <a:prstGeom prst="round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>
                  <a:solidFill>
                    <a:schemeClr val="accent4">
                      <a:lumMod val="20000"/>
                      <a:lumOff val="80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ChromaDB</a:t>
            </a:r>
            <a:r>
              <a:rPr lang="en-US" dirty="0">
                <a:ln w="0">
                  <a:solidFill>
                    <a:schemeClr val="accent4">
                      <a:lumMod val="20000"/>
                      <a:lumOff val="80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 err="1">
                <a:ln w="0">
                  <a:solidFill>
                    <a:schemeClr val="accent4">
                      <a:lumMod val="20000"/>
                      <a:lumOff val="80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upsert</a:t>
            </a:r>
            <a:endParaRPr lang="en-US" dirty="0">
              <a:ln w="0">
                <a:solidFill>
                  <a:schemeClr val="accent4">
                    <a:lumMod val="20000"/>
                    <a:lumOff val="80000"/>
                  </a:schemeClr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>
                <a:ln w="0">
                  <a:solidFill>
                    <a:schemeClr val="accent4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SHA-256 </a:t>
            </a:r>
            <a:r>
              <a:rPr lang="en-US" sz="1400" dirty="0" err="1">
                <a:ln w="0">
                  <a:solidFill>
                    <a:schemeClr val="accent4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dedup</a:t>
            </a:r>
            <a:r>
              <a:rPr lang="en-US" sz="1400" dirty="0">
                <a:ln w="0">
                  <a:solidFill>
                    <a:schemeClr val="accent4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key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2CB2A16-153D-F65A-F3CA-AD89F26D241C}"/>
              </a:ext>
            </a:extLst>
          </p:cNvPr>
          <p:cNvCxnSpPr>
            <a:cxnSpLocks/>
          </p:cNvCxnSpPr>
          <p:nvPr/>
        </p:nvCxnSpPr>
        <p:spPr>
          <a:xfrm flipH="1">
            <a:off x="765176" y="4803775"/>
            <a:ext cx="8007347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E87A3ED-5D4F-F261-E33D-DDEBEB4CBBE8}"/>
              </a:ext>
            </a:extLst>
          </p:cNvPr>
          <p:cNvCxnSpPr>
            <a:cxnSpLocks/>
            <a:stCxn id="40" idx="3"/>
            <a:endCxn id="34" idx="1"/>
          </p:cNvCxnSpPr>
          <p:nvPr/>
        </p:nvCxnSpPr>
        <p:spPr>
          <a:xfrm flipV="1">
            <a:off x="5895746" y="4182268"/>
            <a:ext cx="209552" cy="158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ADA9D92-8785-B76C-C79B-6916D2D89A60}"/>
              </a:ext>
            </a:extLst>
          </p:cNvPr>
          <p:cNvSpPr/>
          <p:nvPr/>
        </p:nvSpPr>
        <p:spPr>
          <a:xfrm>
            <a:off x="828450" y="3837781"/>
            <a:ext cx="2330447" cy="723900"/>
          </a:xfrm>
          <a:prstGeom prst="round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>
                  <a:solidFill>
                    <a:schemeClr val="accent4">
                      <a:lumMod val="20000"/>
                      <a:lumOff val="80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Embed chunks</a:t>
            </a:r>
          </a:p>
          <a:p>
            <a:pPr algn="ctr"/>
            <a:r>
              <a:rPr lang="en-US" sz="1400" dirty="0">
                <a:ln w="0">
                  <a:solidFill>
                    <a:schemeClr val="accent4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text-embedding-3-small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5E7ECE3-CEE0-D495-2E91-A5251BAF4E3D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3158897" y="4183855"/>
            <a:ext cx="260351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FC1BC5B-B605-F102-E066-C3F0256C999C}"/>
              </a:ext>
            </a:extLst>
          </p:cNvPr>
          <p:cNvCxnSpPr>
            <a:cxnSpLocks/>
            <a:stCxn id="50" idx="0"/>
          </p:cNvCxnSpPr>
          <p:nvPr/>
        </p:nvCxnSpPr>
        <p:spPr>
          <a:xfrm flipV="1">
            <a:off x="1993674" y="2508728"/>
            <a:ext cx="1632721" cy="132905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D8BE959-7B22-112F-4073-13EEA63B86C2}"/>
              </a:ext>
            </a:extLst>
          </p:cNvPr>
          <p:cNvCxnSpPr>
            <a:cxnSpLocks/>
          </p:cNvCxnSpPr>
          <p:nvPr/>
        </p:nvCxnSpPr>
        <p:spPr>
          <a:xfrm flipV="1">
            <a:off x="3626395" y="2367217"/>
            <a:ext cx="2304505" cy="12198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2D62F70-23CA-7BE9-7CD2-66B780D7E418}"/>
              </a:ext>
            </a:extLst>
          </p:cNvPr>
          <p:cNvCxnSpPr>
            <a:cxnSpLocks/>
          </p:cNvCxnSpPr>
          <p:nvPr/>
        </p:nvCxnSpPr>
        <p:spPr>
          <a:xfrm flipV="1">
            <a:off x="5983603" y="2344357"/>
            <a:ext cx="184150" cy="1111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0EF69023-F523-EB12-329C-65FC1030AF27}"/>
              </a:ext>
            </a:extLst>
          </p:cNvPr>
          <p:cNvSpPr txBox="1"/>
          <p:nvPr/>
        </p:nvSpPr>
        <p:spPr>
          <a:xfrm rot="16200000">
            <a:off x="-182563" y="1693655"/>
            <a:ext cx="8985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INGEST</a:t>
            </a:r>
            <a:endParaRPr 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B06632C-726A-BCD4-B77C-E8DE15E05D02}"/>
              </a:ext>
            </a:extLst>
          </p:cNvPr>
          <p:cNvSpPr txBox="1"/>
          <p:nvPr/>
        </p:nvSpPr>
        <p:spPr>
          <a:xfrm rot="16200000">
            <a:off x="-109119" y="4030114"/>
            <a:ext cx="7937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INDEX</a:t>
            </a:r>
            <a:endParaRPr lang="en-US" dirty="0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172105DB-E5CF-D6BB-4D58-9E262DA962DD}"/>
              </a:ext>
            </a:extLst>
          </p:cNvPr>
          <p:cNvSpPr/>
          <p:nvPr/>
        </p:nvSpPr>
        <p:spPr>
          <a:xfrm>
            <a:off x="828450" y="5421381"/>
            <a:ext cx="2476493" cy="723900"/>
          </a:xfrm>
          <a:prstGeom prst="round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>
                  <a:solidFill>
                    <a:schemeClr val="tx1">
                      <a:lumMod val="95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question</a:t>
            </a:r>
          </a:p>
          <a:p>
            <a:pPr algn="ctr"/>
            <a:r>
              <a:rPr lang="en-US" sz="1400" dirty="0">
                <a:ln w="0">
                  <a:solidFill>
                    <a:schemeClr val="tx1">
                      <a:lumMod val="85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text query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DA5B4BC-F6A9-F6E9-1882-E7328F7BE74C}"/>
              </a:ext>
            </a:extLst>
          </p:cNvPr>
          <p:cNvSpPr txBox="1"/>
          <p:nvPr/>
        </p:nvSpPr>
        <p:spPr>
          <a:xfrm>
            <a:off x="1434874" y="5052049"/>
            <a:ext cx="13842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Path A: Q&amp;A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944E8DDF-37B1-B3A2-E2B7-F68B515A5998}"/>
              </a:ext>
            </a:extLst>
          </p:cNvPr>
          <p:cNvSpPr/>
          <p:nvPr/>
        </p:nvSpPr>
        <p:spPr>
          <a:xfrm>
            <a:off x="3885972" y="5394911"/>
            <a:ext cx="2425696" cy="723900"/>
          </a:xfrm>
          <a:prstGeom prst="round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>
                  <a:solidFill>
                    <a:schemeClr val="tx1">
                      <a:lumMod val="95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InspectionPayload</a:t>
            </a:r>
            <a:endParaRPr lang="en-US" dirty="0">
              <a:ln w="0">
                <a:solidFill>
                  <a:schemeClr val="tx1">
                    <a:lumMod val="95000"/>
                  </a:schemeClr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 err="1">
                <a:ln w="0">
                  <a:solidFill>
                    <a:schemeClr val="tx1">
                      <a:lumMod val="85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image_id</a:t>
            </a:r>
            <a:r>
              <a:rPr lang="en-US" sz="1400" dirty="0">
                <a:ln w="0">
                  <a:solidFill>
                    <a:schemeClr val="tx1">
                      <a:lumMod val="85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severity, metrics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E221C6B8-376C-11F2-BD0C-7688AFCB40C7}"/>
              </a:ext>
            </a:extLst>
          </p:cNvPr>
          <p:cNvSpPr/>
          <p:nvPr/>
        </p:nvSpPr>
        <p:spPr>
          <a:xfrm>
            <a:off x="6794271" y="5400226"/>
            <a:ext cx="2041526" cy="723900"/>
          </a:xfrm>
          <a:prstGeom prst="round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>
                  <a:solidFill>
                    <a:schemeClr val="accent2">
                      <a:lumMod val="20000"/>
                      <a:lumOff val="80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Semantic query</a:t>
            </a:r>
          </a:p>
          <a:p>
            <a:pPr algn="ctr"/>
            <a:r>
              <a:rPr lang="en-US" sz="1400" dirty="0" err="1">
                <a:ln w="0"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to_sematic_query</a:t>
            </a:r>
            <a:r>
              <a:rPr lang="en-US" sz="1400" dirty="0">
                <a:ln w="0"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()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22E4638F-DEE0-339B-BDEA-C9939599C8E2}"/>
              </a:ext>
            </a:extLst>
          </p:cNvPr>
          <p:cNvCxnSpPr>
            <a:cxnSpLocks/>
            <a:stCxn id="86" idx="3"/>
            <a:endCxn id="87" idx="1"/>
          </p:cNvCxnSpPr>
          <p:nvPr/>
        </p:nvCxnSpPr>
        <p:spPr>
          <a:xfrm>
            <a:off x="6311668" y="5756861"/>
            <a:ext cx="482603" cy="531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9D369F20-CBD7-52C1-3A03-ECF8C11BE639}"/>
              </a:ext>
            </a:extLst>
          </p:cNvPr>
          <p:cNvSpPr txBox="1"/>
          <p:nvPr/>
        </p:nvSpPr>
        <p:spPr>
          <a:xfrm>
            <a:off x="5233760" y="4981663"/>
            <a:ext cx="2774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Path B: Inspection report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C691832F-2171-79CE-1524-9978C53406CD}"/>
              </a:ext>
            </a:extLst>
          </p:cNvPr>
          <p:cNvSpPr/>
          <p:nvPr/>
        </p:nvSpPr>
        <p:spPr>
          <a:xfrm>
            <a:off x="6340712" y="6433611"/>
            <a:ext cx="2657472" cy="727074"/>
          </a:xfrm>
          <a:prstGeom prst="round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Reranked passages</a:t>
            </a:r>
          </a:p>
          <a:p>
            <a:pPr algn="ctr"/>
            <a:r>
              <a:rPr lang="en-US" sz="1400" dirty="0">
                <a:ln w="0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score, doc, metadata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DEEE7776-6B18-3B17-9CFF-D6DF0966B398}"/>
              </a:ext>
            </a:extLst>
          </p:cNvPr>
          <p:cNvSpPr/>
          <p:nvPr/>
        </p:nvSpPr>
        <p:spPr>
          <a:xfrm>
            <a:off x="3584578" y="6434772"/>
            <a:ext cx="2476498" cy="723900"/>
          </a:xfrm>
          <a:prstGeom prst="round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>
                  <a:solidFill>
                    <a:schemeClr val="accent2">
                      <a:lumMod val="20000"/>
                      <a:lumOff val="80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Cross-encoder-</a:t>
            </a:r>
            <a:r>
              <a:rPr lang="en-US" dirty="0" err="1">
                <a:ln w="0">
                  <a:solidFill>
                    <a:schemeClr val="accent2">
                      <a:lumMod val="20000"/>
                      <a:lumOff val="80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rerank</a:t>
            </a:r>
            <a:endParaRPr lang="en-US" dirty="0">
              <a:ln w="0">
                <a:solidFill>
                  <a:schemeClr val="accent2">
                    <a:lumMod val="20000"/>
                    <a:lumOff val="80000"/>
                  </a:schemeClr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 err="1">
                <a:ln w="0"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MiniLM</a:t>
            </a:r>
            <a:r>
              <a:rPr lang="en-US" sz="1400" dirty="0">
                <a:ln w="0"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-&gt; top 5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BBEAFE2E-0E08-9C4D-A085-A8C1B0A887E6}"/>
              </a:ext>
            </a:extLst>
          </p:cNvPr>
          <p:cNvSpPr/>
          <p:nvPr/>
        </p:nvSpPr>
        <p:spPr>
          <a:xfrm>
            <a:off x="815911" y="7474633"/>
            <a:ext cx="2476495" cy="723900"/>
          </a:xfrm>
          <a:prstGeom prst="roundRect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>
                  <a:solidFill>
                    <a:schemeClr val="accent5">
                      <a:lumMod val="20000"/>
                      <a:lumOff val="80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Build prompt</a:t>
            </a:r>
          </a:p>
          <a:p>
            <a:pPr algn="ctr"/>
            <a:r>
              <a:rPr lang="en-US" sz="1400" dirty="0">
                <a:ln w="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numbered passages [1] … [N]</a:t>
            </a: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8AD815F5-7351-C3A0-C1FA-57F6AEB0B2A9}"/>
              </a:ext>
            </a:extLst>
          </p:cNvPr>
          <p:cNvSpPr/>
          <p:nvPr/>
        </p:nvSpPr>
        <p:spPr>
          <a:xfrm>
            <a:off x="783001" y="8468280"/>
            <a:ext cx="2521941" cy="727074"/>
          </a:xfrm>
          <a:prstGeom prst="round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Answer</a:t>
            </a:r>
          </a:p>
          <a:p>
            <a:pPr algn="ctr"/>
            <a:r>
              <a:rPr lang="en-US" sz="1400" dirty="0">
                <a:ln w="0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inline [N] citations, footnote bibliography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B0C847BD-FBC0-4080-2741-88F2D83BF717}"/>
              </a:ext>
            </a:extLst>
          </p:cNvPr>
          <p:cNvSpPr/>
          <p:nvPr/>
        </p:nvSpPr>
        <p:spPr>
          <a:xfrm>
            <a:off x="3507105" y="8425614"/>
            <a:ext cx="2521941" cy="1076324"/>
          </a:xfrm>
          <a:prstGeom prst="round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Maintenance report</a:t>
            </a:r>
          </a:p>
          <a:p>
            <a:pPr algn="ctr"/>
            <a:r>
              <a:rPr lang="en-US" sz="1400" dirty="0">
                <a:ln w="0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Findings, Risks, Repair, Schedule, cited passage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C15995A6-4A1D-A7E7-A68B-2EBC354FDD0C}"/>
              </a:ext>
            </a:extLst>
          </p:cNvPr>
          <p:cNvSpPr/>
          <p:nvPr/>
        </p:nvSpPr>
        <p:spPr>
          <a:xfrm>
            <a:off x="815975" y="6448007"/>
            <a:ext cx="2488967" cy="723900"/>
          </a:xfrm>
          <a:prstGeom prst="round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>
                  <a:solidFill>
                    <a:schemeClr val="accent4">
                      <a:lumMod val="20000"/>
                      <a:lumOff val="80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Vector search</a:t>
            </a:r>
          </a:p>
          <a:p>
            <a:pPr algn="ctr"/>
            <a:r>
              <a:rPr lang="en-US" sz="1400" dirty="0">
                <a:ln w="0">
                  <a:solidFill>
                    <a:schemeClr val="accent4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top-20 candidates</a:t>
            </a: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9B4D2537-4ADB-EF6B-8075-856950C37A4B}"/>
              </a:ext>
            </a:extLst>
          </p:cNvPr>
          <p:cNvSpPr/>
          <p:nvPr/>
        </p:nvSpPr>
        <p:spPr>
          <a:xfrm>
            <a:off x="3541937" y="7474633"/>
            <a:ext cx="2488967" cy="723900"/>
          </a:xfrm>
          <a:prstGeom prst="round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>
                  <a:solidFill>
                    <a:schemeClr val="accent4">
                      <a:lumMod val="20000"/>
                      <a:lumOff val="80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GPT-5 nano</a:t>
            </a:r>
          </a:p>
          <a:p>
            <a:pPr algn="ctr"/>
            <a:r>
              <a:rPr lang="en-US" sz="1400" dirty="0">
                <a:ln w="0">
                  <a:solidFill>
                    <a:schemeClr val="accent4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400k context token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0657BA6E-208A-2FB8-61A6-B41A0E1F4312}"/>
              </a:ext>
            </a:extLst>
          </p:cNvPr>
          <p:cNvSpPr/>
          <p:nvPr/>
        </p:nvSpPr>
        <p:spPr>
          <a:xfrm>
            <a:off x="6221499" y="7474633"/>
            <a:ext cx="2657472" cy="723900"/>
          </a:xfrm>
          <a:prstGeom prst="roundRect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>
                  <a:solidFill>
                    <a:schemeClr val="accent5">
                      <a:lumMod val="20000"/>
                      <a:lumOff val="80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Parse + cite</a:t>
            </a:r>
          </a:p>
          <a:p>
            <a:pPr algn="ctr"/>
            <a:r>
              <a:rPr lang="en-US" sz="1400" dirty="0">
                <a:ln w="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extract [N] and sources</a:t>
            </a: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F77186C7-E8F9-E789-ABD9-B0D868C852A2}"/>
              </a:ext>
            </a:extLst>
          </p:cNvPr>
          <p:cNvSpPr/>
          <p:nvPr/>
        </p:nvSpPr>
        <p:spPr>
          <a:xfrm>
            <a:off x="5465536" y="9932218"/>
            <a:ext cx="2657470" cy="723901"/>
          </a:xfrm>
          <a:prstGeom prst="round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EvalResult</a:t>
            </a:r>
            <a:endParaRPr lang="en-US" dirty="0">
              <a:ln w="0">
                <a:solidFill>
                  <a:schemeClr val="accent6">
                    <a:lumMod val="20000"/>
                    <a:lumOff val="80000"/>
                  </a:schemeClr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>
                <a:ln w="0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passed/failed flags</a:t>
            </a: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4099F4AD-3513-CCF4-A61E-4FAB3976F306}"/>
              </a:ext>
            </a:extLst>
          </p:cNvPr>
          <p:cNvSpPr/>
          <p:nvPr/>
        </p:nvSpPr>
        <p:spPr>
          <a:xfrm>
            <a:off x="1228502" y="9939390"/>
            <a:ext cx="2657470" cy="850079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>
                  <a:solidFill>
                    <a:schemeClr val="accent2">
                      <a:lumMod val="20000"/>
                      <a:lumOff val="80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Rule-bases results</a:t>
            </a:r>
          </a:p>
          <a:p>
            <a:pPr algn="ctr"/>
            <a:r>
              <a:rPr lang="en-US" sz="1400" dirty="0">
                <a:ln w="0"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Citation coverage, vocab overall, severity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E2C5C54-CCB0-30FD-FA94-1C0ED81EB9D6}"/>
              </a:ext>
            </a:extLst>
          </p:cNvPr>
          <p:cNvCxnSpPr>
            <a:cxnSpLocks/>
          </p:cNvCxnSpPr>
          <p:nvPr/>
        </p:nvCxnSpPr>
        <p:spPr>
          <a:xfrm flipH="1">
            <a:off x="828450" y="9668694"/>
            <a:ext cx="8007347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B79CBB36-4B47-BCBD-0138-2379CD0F4594}"/>
              </a:ext>
            </a:extLst>
          </p:cNvPr>
          <p:cNvCxnSpPr>
            <a:cxnSpLocks/>
          </p:cNvCxnSpPr>
          <p:nvPr/>
        </p:nvCxnSpPr>
        <p:spPr>
          <a:xfrm>
            <a:off x="2028826" y="6118811"/>
            <a:ext cx="0" cy="34395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31FECD0F-9D8E-2E4F-7A69-D7C6752757AD}"/>
              </a:ext>
            </a:extLst>
          </p:cNvPr>
          <p:cNvCxnSpPr>
            <a:cxnSpLocks/>
            <a:stCxn id="92" idx="2"/>
            <a:endCxn id="108" idx="0"/>
          </p:cNvCxnSpPr>
          <p:nvPr/>
        </p:nvCxnSpPr>
        <p:spPr>
          <a:xfrm flipH="1">
            <a:off x="2054159" y="7160685"/>
            <a:ext cx="5615289" cy="31394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8AE1A1C2-976E-E70D-6773-C947410F5945}"/>
              </a:ext>
            </a:extLst>
          </p:cNvPr>
          <p:cNvCxnSpPr>
            <a:cxnSpLocks/>
          </p:cNvCxnSpPr>
          <p:nvPr/>
        </p:nvCxnSpPr>
        <p:spPr>
          <a:xfrm>
            <a:off x="2066696" y="9187106"/>
            <a:ext cx="232004" cy="75228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967DEA53-B2BE-09B6-AC15-6A1481A7D2ED}"/>
              </a:ext>
            </a:extLst>
          </p:cNvPr>
          <p:cNvCxnSpPr>
            <a:cxnSpLocks/>
            <a:stCxn id="120" idx="3"/>
            <a:endCxn id="93" idx="1"/>
          </p:cNvCxnSpPr>
          <p:nvPr/>
        </p:nvCxnSpPr>
        <p:spPr>
          <a:xfrm flipV="1">
            <a:off x="3304942" y="6796722"/>
            <a:ext cx="279636" cy="1323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D5FBBCD6-3B88-168B-2541-07577687868E}"/>
              </a:ext>
            </a:extLst>
          </p:cNvPr>
          <p:cNvCxnSpPr>
            <a:cxnSpLocks/>
            <a:stCxn id="93" idx="3"/>
            <a:endCxn id="92" idx="1"/>
          </p:cNvCxnSpPr>
          <p:nvPr/>
        </p:nvCxnSpPr>
        <p:spPr>
          <a:xfrm>
            <a:off x="6061076" y="6796722"/>
            <a:ext cx="279636" cy="42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A9B2D083-2B86-96B9-7241-E4D1F1E6FE52}"/>
              </a:ext>
            </a:extLst>
          </p:cNvPr>
          <p:cNvCxnSpPr>
            <a:cxnSpLocks/>
            <a:stCxn id="108" idx="3"/>
            <a:endCxn id="133" idx="1"/>
          </p:cNvCxnSpPr>
          <p:nvPr/>
        </p:nvCxnSpPr>
        <p:spPr>
          <a:xfrm>
            <a:off x="3292406" y="7836583"/>
            <a:ext cx="249531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6621F671-1D98-4CB7-CCEA-5799FA2DDAAA}"/>
              </a:ext>
            </a:extLst>
          </p:cNvPr>
          <p:cNvCxnSpPr>
            <a:cxnSpLocks/>
            <a:endCxn id="134" idx="1"/>
          </p:cNvCxnSpPr>
          <p:nvPr/>
        </p:nvCxnSpPr>
        <p:spPr>
          <a:xfrm>
            <a:off x="6024560" y="7836583"/>
            <a:ext cx="196939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506109CD-DE48-B455-C9FB-51BC43B877F6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6311668" y="4545805"/>
            <a:ext cx="1122366" cy="180742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67FEDCE9-876D-385D-17E4-ED1C93314F0B}"/>
              </a:ext>
            </a:extLst>
          </p:cNvPr>
          <p:cNvCxnSpPr>
            <a:cxnSpLocks/>
          </p:cNvCxnSpPr>
          <p:nvPr/>
        </p:nvCxnSpPr>
        <p:spPr>
          <a:xfrm flipV="1">
            <a:off x="2832333" y="6290787"/>
            <a:ext cx="3540011" cy="9651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78E92E85-D081-9A0E-8BD0-AA098320DD2A}"/>
              </a:ext>
            </a:extLst>
          </p:cNvPr>
          <p:cNvCxnSpPr>
            <a:cxnSpLocks/>
          </p:cNvCxnSpPr>
          <p:nvPr/>
        </p:nvCxnSpPr>
        <p:spPr>
          <a:xfrm flipH="1">
            <a:off x="2438839" y="6393791"/>
            <a:ext cx="323499" cy="3982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8CA2AE72-CFB4-A093-947F-3ABDA4EDE575}"/>
              </a:ext>
            </a:extLst>
          </p:cNvPr>
          <p:cNvCxnSpPr>
            <a:cxnSpLocks/>
            <a:stCxn id="134" idx="2"/>
          </p:cNvCxnSpPr>
          <p:nvPr/>
        </p:nvCxnSpPr>
        <p:spPr>
          <a:xfrm flipH="1">
            <a:off x="6024560" y="8198533"/>
            <a:ext cx="1525675" cy="52017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56154AF8-C573-4683-5C95-59B1B861B0C0}"/>
              </a:ext>
            </a:extLst>
          </p:cNvPr>
          <p:cNvCxnSpPr>
            <a:cxnSpLocks/>
            <a:stCxn id="138" idx="3"/>
            <a:endCxn id="137" idx="1"/>
          </p:cNvCxnSpPr>
          <p:nvPr/>
        </p:nvCxnSpPr>
        <p:spPr>
          <a:xfrm flipV="1">
            <a:off x="3885972" y="10294169"/>
            <a:ext cx="1579564" cy="7026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40E6F9F3-0FFD-A6A7-B43D-3E562C6FB5D4}"/>
              </a:ext>
            </a:extLst>
          </p:cNvPr>
          <p:cNvCxnSpPr>
            <a:cxnSpLocks/>
          </p:cNvCxnSpPr>
          <p:nvPr/>
        </p:nvCxnSpPr>
        <p:spPr>
          <a:xfrm flipH="1">
            <a:off x="2832333" y="9501938"/>
            <a:ext cx="955211" cy="43745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7" name="Rectangle: Rounded Corners 196">
            <a:extLst>
              <a:ext uri="{FF2B5EF4-FFF2-40B4-BE49-F238E27FC236}">
                <a16:creationId xmlns:a16="http://schemas.microsoft.com/office/drawing/2014/main" id="{B85F87C4-E8C4-AF29-AE00-4DEB6179520B}"/>
              </a:ext>
            </a:extLst>
          </p:cNvPr>
          <p:cNvSpPr/>
          <p:nvPr/>
        </p:nvSpPr>
        <p:spPr>
          <a:xfrm>
            <a:off x="3263906" y="74013"/>
            <a:ext cx="5615065" cy="1007010"/>
          </a:xfrm>
          <a:prstGeom prst="round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n w="0">
                <a:solidFill>
                  <a:schemeClr val="tx1">
                    <a:lumMod val="85000"/>
                  </a:schemeClr>
                </a:solidFill>
              </a:ln>
              <a:solidFill>
                <a:schemeClr val="tx1">
                  <a:lumMod val="8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8" name="Rectangle: Rounded Corners 197">
            <a:extLst>
              <a:ext uri="{FF2B5EF4-FFF2-40B4-BE49-F238E27FC236}">
                <a16:creationId xmlns:a16="http://schemas.microsoft.com/office/drawing/2014/main" id="{458A8D89-6A7B-C4A5-D08D-50F0A2FA03D7}"/>
              </a:ext>
            </a:extLst>
          </p:cNvPr>
          <p:cNvSpPr/>
          <p:nvPr/>
        </p:nvSpPr>
        <p:spPr>
          <a:xfrm>
            <a:off x="3402508" y="159573"/>
            <a:ext cx="184373" cy="204044"/>
          </a:xfrm>
          <a:prstGeom prst="roundRect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n w="0">
                <a:solidFill>
                  <a:schemeClr val="accent5">
                    <a:lumMod val="40000"/>
                    <a:lumOff val="60000"/>
                  </a:schemeClr>
                </a:solidFill>
              </a:ln>
              <a:solidFill>
                <a:schemeClr val="tx1">
                  <a:lumMod val="8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C68ECB2A-EBB8-9C18-1A83-D7DB043216B4}"/>
              </a:ext>
            </a:extLst>
          </p:cNvPr>
          <p:cNvSpPr txBox="1"/>
          <p:nvPr/>
        </p:nvSpPr>
        <p:spPr>
          <a:xfrm>
            <a:off x="3546969" y="116853"/>
            <a:ext cx="1546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Chunking logic</a:t>
            </a:r>
            <a:endParaRPr lang="en-US" sz="1600" dirty="0"/>
          </a:p>
        </p:txBody>
      </p:sp>
      <p:sp>
        <p:nvSpPr>
          <p:cNvPr id="201" name="Rectangle: Rounded Corners 200">
            <a:extLst>
              <a:ext uri="{FF2B5EF4-FFF2-40B4-BE49-F238E27FC236}">
                <a16:creationId xmlns:a16="http://schemas.microsoft.com/office/drawing/2014/main" id="{FBCE20CF-66D9-85AC-1E67-594347FB3868}"/>
              </a:ext>
            </a:extLst>
          </p:cNvPr>
          <p:cNvSpPr/>
          <p:nvPr/>
        </p:nvSpPr>
        <p:spPr>
          <a:xfrm>
            <a:off x="3403383" y="454088"/>
            <a:ext cx="184373" cy="204044"/>
          </a:xfrm>
          <a:prstGeom prst="round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n w="0">
                <a:solidFill>
                  <a:schemeClr val="accent5">
                    <a:lumMod val="40000"/>
                    <a:lumOff val="60000"/>
                  </a:schemeClr>
                </a:solidFill>
              </a:ln>
              <a:solidFill>
                <a:schemeClr val="tx1">
                  <a:lumMod val="8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45A12EF2-46F4-BAA1-3407-3F04B163F431}"/>
              </a:ext>
            </a:extLst>
          </p:cNvPr>
          <p:cNvSpPr txBox="1"/>
          <p:nvPr/>
        </p:nvSpPr>
        <p:spPr>
          <a:xfrm>
            <a:off x="3541172" y="406089"/>
            <a:ext cx="15842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Embedding / LLM</a:t>
            </a:r>
            <a:endParaRPr lang="en-US" sz="1600" dirty="0"/>
          </a:p>
        </p:txBody>
      </p:sp>
      <p:sp>
        <p:nvSpPr>
          <p:cNvPr id="203" name="Rectangle: Rounded Corners 202">
            <a:extLst>
              <a:ext uri="{FF2B5EF4-FFF2-40B4-BE49-F238E27FC236}">
                <a16:creationId xmlns:a16="http://schemas.microsoft.com/office/drawing/2014/main" id="{2C4BDB1D-28CF-6F19-3E0E-486C0E99D53B}"/>
              </a:ext>
            </a:extLst>
          </p:cNvPr>
          <p:cNvSpPr/>
          <p:nvPr/>
        </p:nvSpPr>
        <p:spPr>
          <a:xfrm>
            <a:off x="5550802" y="154934"/>
            <a:ext cx="184373" cy="204044"/>
          </a:xfrm>
          <a:prstGeom prst="round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n w="0">
                <a:solidFill>
                  <a:schemeClr val="accent5">
                    <a:lumMod val="40000"/>
                    <a:lumOff val="60000"/>
                  </a:schemeClr>
                </a:solidFill>
              </a:ln>
              <a:solidFill>
                <a:schemeClr val="tx1">
                  <a:lumMod val="8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83CC1D52-CB24-8EAF-283A-7620B71EEEAF}"/>
              </a:ext>
            </a:extLst>
          </p:cNvPr>
          <p:cNvSpPr txBox="1"/>
          <p:nvPr/>
        </p:nvSpPr>
        <p:spPr>
          <a:xfrm>
            <a:off x="5695691" y="106834"/>
            <a:ext cx="1765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Retrieval / reranking</a:t>
            </a:r>
            <a:endParaRPr lang="en-US" sz="1600" dirty="0"/>
          </a:p>
        </p:txBody>
      </p:sp>
      <p:sp>
        <p:nvSpPr>
          <p:cNvPr id="205" name="Rectangle: Rounded Corners 204">
            <a:extLst>
              <a:ext uri="{FF2B5EF4-FFF2-40B4-BE49-F238E27FC236}">
                <a16:creationId xmlns:a16="http://schemas.microsoft.com/office/drawing/2014/main" id="{217F6BFB-925C-213B-E053-C53ABC571DC6}"/>
              </a:ext>
            </a:extLst>
          </p:cNvPr>
          <p:cNvSpPr/>
          <p:nvPr/>
        </p:nvSpPr>
        <p:spPr>
          <a:xfrm>
            <a:off x="3414918" y="759847"/>
            <a:ext cx="184373" cy="204044"/>
          </a:xfrm>
          <a:prstGeom prst="round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n w="0">
                <a:solidFill>
                  <a:schemeClr val="accent5">
                    <a:lumMod val="40000"/>
                    <a:lumOff val="60000"/>
                  </a:schemeClr>
                </a:solidFill>
              </a:ln>
              <a:solidFill>
                <a:schemeClr val="tx1">
                  <a:lumMod val="8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2C133F81-090F-5E33-2FAE-A114236FD85B}"/>
              </a:ext>
            </a:extLst>
          </p:cNvPr>
          <p:cNvSpPr txBox="1"/>
          <p:nvPr/>
        </p:nvSpPr>
        <p:spPr>
          <a:xfrm>
            <a:off x="3559690" y="710179"/>
            <a:ext cx="19926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Data objects / outputs</a:t>
            </a:r>
            <a:endParaRPr lang="en-US" sz="1600" dirty="0"/>
          </a:p>
        </p:txBody>
      </p: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id="{583CBA22-037D-D9F4-7F74-4ABDEE0632DA}"/>
              </a:ext>
            </a:extLst>
          </p:cNvPr>
          <p:cNvSpPr/>
          <p:nvPr/>
        </p:nvSpPr>
        <p:spPr>
          <a:xfrm>
            <a:off x="5550802" y="460463"/>
            <a:ext cx="184373" cy="204044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>
              <a:ln w="0">
                <a:solidFill>
                  <a:schemeClr val="accent5">
                    <a:lumMod val="40000"/>
                    <a:lumOff val="60000"/>
                  </a:schemeClr>
                </a:solidFill>
              </a:ln>
              <a:solidFill>
                <a:schemeClr val="tx1">
                  <a:lumMod val="8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614427A6-A6CF-0322-068D-442470AA2E52}"/>
              </a:ext>
            </a:extLst>
          </p:cNvPr>
          <p:cNvSpPr txBox="1"/>
          <p:nvPr/>
        </p:nvSpPr>
        <p:spPr>
          <a:xfrm>
            <a:off x="5695691" y="399663"/>
            <a:ext cx="1765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Evaluation</a:t>
            </a:r>
            <a:endParaRPr lang="en-US" sz="1600" dirty="0"/>
          </a:p>
        </p:txBody>
      </p:sp>
      <p:sp>
        <p:nvSpPr>
          <p:cNvPr id="209" name="Rectangle: Rounded Corners 208">
            <a:extLst>
              <a:ext uri="{FF2B5EF4-FFF2-40B4-BE49-F238E27FC236}">
                <a16:creationId xmlns:a16="http://schemas.microsoft.com/office/drawing/2014/main" id="{B24B115C-5262-F503-A48E-D1AB5D96A129}"/>
              </a:ext>
            </a:extLst>
          </p:cNvPr>
          <p:cNvSpPr/>
          <p:nvPr/>
        </p:nvSpPr>
        <p:spPr>
          <a:xfrm>
            <a:off x="5550802" y="779875"/>
            <a:ext cx="184373" cy="204044"/>
          </a:xfrm>
          <a:prstGeom prst="round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n w="0">
                <a:solidFill>
                  <a:schemeClr val="accent5">
                    <a:lumMod val="40000"/>
                    <a:lumOff val="60000"/>
                  </a:schemeClr>
                </a:solidFill>
              </a:ln>
              <a:solidFill>
                <a:schemeClr val="tx1">
                  <a:lumMod val="8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043C107-0395-88DC-79D6-5C57D01483DA}"/>
              </a:ext>
            </a:extLst>
          </p:cNvPr>
          <p:cNvSpPr txBox="1"/>
          <p:nvPr/>
        </p:nvSpPr>
        <p:spPr>
          <a:xfrm>
            <a:off x="5706501" y="731438"/>
            <a:ext cx="1765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Input</a:t>
            </a:r>
            <a:endParaRPr lang="en-US" sz="1600" dirty="0"/>
          </a:p>
        </p:txBody>
      </p: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2F87ED5C-D48D-A3D3-B477-B39D370E5252}"/>
              </a:ext>
            </a:extLst>
          </p:cNvPr>
          <p:cNvCxnSpPr>
            <a:cxnSpLocks/>
          </p:cNvCxnSpPr>
          <p:nvPr/>
        </p:nvCxnSpPr>
        <p:spPr>
          <a:xfrm>
            <a:off x="7042510" y="522242"/>
            <a:ext cx="406551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6" name="TextBox 215">
            <a:extLst>
              <a:ext uri="{FF2B5EF4-FFF2-40B4-BE49-F238E27FC236}">
                <a16:creationId xmlns:a16="http://schemas.microsoft.com/office/drawing/2014/main" id="{277F68F2-A17D-2275-B7AC-44F6AD9A1F2D}"/>
              </a:ext>
            </a:extLst>
          </p:cNvPr>
          <p:cNvSpPr txBox="1"/>
          <p:nvPr/>
        </p:nvSpPr>
        <p:spPr>
          <a:xfrm>
            <a:off x="7457070" y="364235"/>
            <a:ext cx="1765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Data flow</a:t>
            </a:r>
            <a:endParaRPr lang="en-US" sz="1600" dirty="0"/>
          </a:p>
        </p:txBody>
      </p: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C1D0C423-EDA8-A78B-C26C-5F8A82B96A62}"/>
              </a:ext>
            </a:extLst>
          </p:cNvPr>
          <p:cNvCxnSpPr>
            <a:cxnSpLocks/>
          </p:cNvCxnSpPr>
          <p:nvPr/>
        </p:nvCxnSpPr>
        <p:spPr>
          <a:xfrm>
            <a:off x="7042510" y="851300"/>
            <a:ext cx="40655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14CA2133-1188-63C4-5CDC-0E2D3F0C3F59}"/>
              </a:ext>
            </a:extLst>
          </p:cNvPr>
          <p:cNvSpPr txBox="1"/>
          <p:nvPr/>
        </p:nvSpPr>
        <p:spPr>
          <a:xfrm>
            <a:off x="7457070" y="693293"/>
            <a:ext cx="1765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Data flow (read)</a:t>
            </a:r>
            <a:endParaRPr lang="en-US" sz="1600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A06D3BB5-764B-95AC-21B0-874578D9D3C1}"/>
              </a:ext>
            </a:extLst>
          </p:cNvPr>
          <p:cNvSpPr txBox="1"/>
          <p:nvPr/>
        </p:nvSpPr>
        <p:spPr>
          <a:xfrm rot="16200000">
            <a:off x="-1062824" y="7153993"/>
            <a:ext cx="26579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RETRIEVE \ GENERATION</a:t>
            </a:r>
            <a:endParaRPr lang="en-US" dirty="0"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F61A2DE1-0673-347B-E2AA-97F8A97AE958}"/>
              </a:ext>
            </a:extLst>
          </p:cNvPr>
          <p:cNvSpPr txBox="1"/>
          <p:nvPr/>
        </p:nvSpPr>
        <p:spPr>
          <a:xfrm rot="16200000">
            <a:off x="-448098" y="9937199"/>
            <a:ext cx="14757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EVALUATION</a:t>
            </a:r>
            <a:endParaRPr lang="en-US" dirty="0"/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6F6C8F98-819B-E7F7-9E89-3C43B8488B90}"/>
              </a:ext>
            </a:extLst>
          </p:cNvPr>
          <p:cNvCxnSpPr>
            <a:cxnSpLocks/>
            <a:stCxn id="29" idx="2"/>
            <a:endCxn id="34" idx="0"/>
          </p:cNvCxnSpPr>
          <p:nvPr/>
        </p:nvCxnSpPr>
        <p:spPr>
          <a:xfrm flipH="1">
            <a:off x="7434034" y="3034746"/>
            <a:ext cx="38325" cy="78398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0ECFCAC8-F254-0D3A-96CA-91AD2D2C9EB3}"/>
              </a:ext>
            </a:extLst>
          </p:cNvPr>
          <p:cNvCxnSpPr>
            <a:cxnSpLocks/>
          </p:cNvCxnSpPr>
          <p:nvPr/>
        </p:nvCxnSpPr>
        <p:spPr>
          <a:xfrm flipH="1">
            <a:off x="6061076" y="6118811"/>
            <a:ext cx="1632721" cy="52262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735F772-3538-568B-80DF-7040245A856E}"/>
              </a:ext>
            </a:extLst>
          </p:cNvPr>
          <p:cNvCxnSpPr>
            <a:cxnSpLocks/>
            <a:endCxn id="118" idx="0"/>
          </p:cNvCxnSpPr>
          <p:nvPr/>
        </p:nvCxnSpPr>
        <p:spPr>
          <a:xfrm flipH="1">
            <a:off x="2043972" y="8198533"/>
            <a:ext cx="4618085" cy="26974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5F559F5-5FF5-236B-3BF0-44C1DF4281C0}"/>
              </a:ext>
            </a:extLst>
          </p:cNvPr>
          <p:cNvCxnSpPr>
            <a:cxnSpLocks/>
            <a:stCxn id="86" idx="1"/>
          </p:cNvCxnSpPr>
          <p:nvPr/>
        </p:nvCxnSpPr>
        <p:spPr>
          <a:xfrm flipH="1">
            <a:off x="3263906" y="5756861"/>
            <a:ext cx="622066" cy="88457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5756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324</TotalTime>
  <Words>196</Words>
  <Application>Microsoft Office PowerPoint</Application>
  <PresentationFormat>Custom</PresentationFormat>
  <Paragraphs>58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LONG TRAN</dc:creator>
  <cp:lastModifiedBy>LONG TRAN</cp:lastModifiedBy>
  <cp:revision>25</cp:revision>
  <dcterms:created xsi:type="dcterms:W3CDTF">2026-03-18T09:35:52Z</dcterms:created>
  <dcterms:modified xsi:type="dcterms:W3CDTF">2026-03-19T09:46:16Z</dcterms:modified>
</cp:coreProperties>
</file>